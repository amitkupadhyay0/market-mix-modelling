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484"/>
    <a:srgbClr val="FBE5D6"/>
    <a:srgbClr val="B2DFDA"/>
    <a:srgbClr val="FFFFFF"/>
    <a:srgbClr val="2E6C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B08E-BA8B-B660-6119-6E495EDF6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8ABE8-2EB9-B9BC-80C5-505E9CAEA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46324-129E-A482-AC4B-46581290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34831-A274-1B48-A6A1-2FFD3AB6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A2C92-DC4C-9C15-4EAB-DB3A6B22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4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784F-0D82-8A59-8F5B-028595B0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32564-F4FD-B6F8-B628-4ABBB0D3A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E3A09-966F-3C45-775E-DEEB11F8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11D06-6BBB-982E-69C5-C3A32049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72F6D-FCD1-D531-A02B-F37164B3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2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80F8-19F9-FF0A-A669-0781CB1D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13097-2EC2-0538-59B9-4E6810B0D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B9D7A-B81A-B375-732B-CFAD139D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FB2DE-FC6A-B689-DC8A-8A095D7C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41656-E3F8-3625-D94D-E0E61D9D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7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FFC6-F5AC-700D-3441-A21E7BE7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B9619-8CD6-7DCC-EA0F-AD38F6439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0BAA6-1297-6C36-1654-67560A4FC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E486F-D6B4-3578-A90C-E014B628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B4662-3B57-6242-C82A-46BE161C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C502A-403A-D7CE-8660-BD5F1343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4156-8121-AE6B-B5BD-9FA7484E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DC82B-400E-7669-B15B-BA95DC264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7F9D5-F2E0-862B-C219-5E99C6DB9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C2825-A3E3-717D-3CCB-E58947AED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1B2E4-D2FD-DD0E-8179-4E23CEC9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347A7-CDAD-6A45-EB45-53F222B4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04DC5-D94A-8E1E-7833-21BE34AF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F677A-B88B-1F0A-F3D8-93BBB0EE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8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DF05-1FF3-F872-2D76-2625B7CB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BC486-630E-D583-A553-FA8A7798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8DAC5-7E1F-F186-C80C-0AEDA93A7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4A6D9-C465-654B-27E4-1EF22848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5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B5C40-AD9D-5AF4-9AB3-2976C6B0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3035F-A26F-C765-9E8E-6120040E1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4FEF5-F505-4F5B-FED8-D72CCA2F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01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5998-C934-AF21-19E6-7ED9C307B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0970-52CA-D760-E807-59A2A00DE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45E94-6E71-10EE-BF50-C80C2F482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ADCFD-322F-9188-5F56-06A74DBA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C9BBD-252E-F2B4-3669-6F21B26E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3F10A-8879-ED80-2DD1-D2C80421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3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36C3-8D89-EB74-EEC6-5D767206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E8091-9A0C-668E-0F84-825AE2B5F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0DDBD-FFC9-E6F6-7D52-EDB111199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768A6-004E-B0C7-C3C8-7C79A4BD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31F9D-F42B-275A-5D2D-815125AF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539AD-2F49-DF49-0117-AF5EC8E7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3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1FC9-89CB-E53A-7924-281CFB4B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275A4-2501-A6FD-941E-DCC1003A4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B768-0425-7281-0FA1-17CE7CD3E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6657F-00FD-EE7F-993F-469E4D18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97EC0-1084-D69E-FBA6-D24F0F35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21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5CF90-5BE7-1F0C-ADD1-AE7E6B629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3CFB5-8924-75FF-F16E-5F0BA1BDD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1125F-E946-4243-529C-C2794F59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E71DB-EF3D-2384-D0B0-1A60C4E1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35D9-753A-2686-A95B-70A22394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4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FF2D0-8551-1CE9-47C5-66E35E25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89411-7787-E58A-C417-7A0200185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8D072-5D24-5684-54F5-BF1426E8C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5C2D1-1D71-4E24-B631-24A50914C10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64E27-8F80-4A9B-A0A5-A31051B57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95351-6E5D-129B-58CE-B5E33C70B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A2CA5-5D71-4641-8A0D-BF9B376C2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86AED8-6A0F-AA17-D9E9-A5F6D747653C}"/>
              </a:ext>
            </a:extLst>
          </p:cNvPr>
          <p:cNvSpPr txBox="1"/>
          <p:nvPr/>
        </p:nvSpPr>
        <p:spPr>
          <a:xfrm>
            <a:off x="4341064" y="2579571"/>
            <a:ext cx="4758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9484"/>
                </a:solidFill>
              </a:rPr>
              <a:t>Market Mix Modeling (MMM)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8FE139-7ECF-D0C2-E5EC-0972B4B05C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6" t="10010" r="11605" b="16447"/>
          <a:stretch>
            <a:fillRect/>
          </a:stretch>
        </p:blipFill>
        <p:spPr bwMode="auto">
          <a:xfrm>
            <a:off x="762000" y="1486074"/>
            <a:ext cx="3155213" cy="304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151857-0671-C80F-97D6-6486DCB01A81}"/>
              </a:ext>
            </a:extLst>
          </p:cNvPr>
          <p:cNvSpPr txBox="1"/>
          <p:nvPr/>
        </p:nvSpPr>
        <p:spPr>
          <a:xfrm>
            <a:off x="5575300" y="3144882"/>
            <a:ext cx="353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009484"/>
                </a:solidFill>
              </a:rPr>
              <a:t>Optimizing the Pharmaceutical</a:t>
            </a:r>
          </a:p>
          <a:p>
            <a:r>
              <a:rPr lang="en-US" b="1" dirty="0">
                <a:solidFill>
                  <a:srgbClr val="009484"/>
                </a:solidFill>
              </a:rPr>
              <a:t>     Commercial Engine</a:t>
            </a:r>
          </a:p>
        </p:txBody>
      </p:sp>
    </p:spTree>
    <p:extLst>
      <p:ext uri="{BB962C8B-B14F-4D97-AF65-F5344CB8AC3E}">
        <p14:creationId xmlns:p14="http://schemas.microsoft.com/office/powerpoint/2010/main" val="4123918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094F-E418-5597-D34E-935A7B782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91048F-6B35-8689-8FA2-194CF974B314}"/>
              </a:ext>
            </a:extLst>
          </p:cNvPr>
          <p:cNvSpPr txBox="1"/>
          <p:nvPr/>
        </p:nvSpPr>
        <p:spPr>
          <a:xfrm>
            <a:off x="4341064" y="23626"/>
            <a:ext cx="3509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9484"/>
                </a:solidFill>
              </a:rPr>
              <a:t>Market Mix Modelling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5DC50-61DE-8E02-2DB1-BC8576C983B2}"/>
              </a:ext>
            </a:extLst>
          </p:cNvPr>
          <p:cNvSpPr txBox="1"/>
          <p:nvPr/>
        </p:nvSpPr>
        <p:spPr>
          <a:xfrm>
            <a:off x="723900" y="787400"/>
            <a:ext cx="10960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009484"/>
                </a:solidFill>
              </a:rPr>
              <a:t>Market Mix Modelling (MMM)</a:t>
            </a:r>
            <a:r>
              <a:rPr lang="en-US" sz="1600" dirty="0">
                <a:solidFill>
                  <a:srgbClr val="009484"/>
                </a:solidFill>
              </a:rPr>
              <a:t> is a statistical approach used by businesses to understand how different marketing activities drive sales (or other KPIs like leads, sign-ups, app installs). It helps quantify the contribution and ROI of each marketing channel.</a:t>
            </a:r>
          </a:p>
          <a:p>
            <a:pPr algn="just"/>
            <a:endParaRPr lang="en-US" sz="1600" dirty="0">
              <a:solidFill>
                <a:srgbClr val="009484"/>
              </a:solidFill>
            </a:endParaRPr>
          </a:p>
          <a:p>
            <a:pPr algn="just"/>
            <a:r>
              <a:rPr lang="en-US" sz="1600" dirty="0">
                <a:solidFill>
                  <a:srgbClr val="009484"/>
                </a:solidFill>
              </a:rPr>
              <a:t>But in the </a:t>
            </a:r>
            <a:r>
              <a:rPr lang="en-US" sz="1600" b="1" dirty="0">
                <a:solidFill>
                  <a:srgbClr val="009484"/>
                </a:solidFill>
              </a:rPr>
              <a:t>pharmaceutical sector</a:t>
            </a:r>
            <a:r>
              <a:rPr lang="en-US" sz="1600" dirty="0">
                <a:solidFill>
                  <a:srgbClr val="009484"/>
                </a:solidFill>
              </a:rPr>
              <a:t> it works differently from typical consumer industries because the buying process is more regulated, indirect, and heavily influenced by medical professionals rather than end-consumers.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68C89-F5C9-6885-CA43-E0A82AD7E2F4}"/>
              </a:ext>
            </a:extLst>
          </p:cNvPr>
          <p:cNvSpPr txBox="1"/>
          <p:nvPr/>
        </p:nvSpPr>
        <p:spPr>
          <a:xfrm>
            <a:off x="2970107" y="2433934"/>
            <a:ext cx="8537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9484"/>
                </a:solidFill>
              </a:rPr>
              <a:t>Sales   =    Base       +       Marketing Impact        +        Market Forces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CCF68-C060-69B6-9F09-2539C43328AB}"/>
              </a:ext>
            </a:extLst>
          </p:cNvPr>
          <p:cNvSpPr txBox="1"/>
          <p:nvPr/>
        </p:nvSpPr>
        <p:spPr>
          <a:xfrm>
            <a:off x="437822" y="2459334"/>
            <a:ext cx="2012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What we Model?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943BA-44F0-4584-982A-3E86D311EF1E}"/>
              </a:ext>
            </a:extLst>
          </p:cNvPr>
          <p:cNvSpPr txBox="1"/>
          <p:nvPr/>
        </p:nvSpPr>
        <p:spPr>
          <a:xfrm>
            <a:off x="3986107" y="3254909"/>
            <a:ext cx="117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(What Happens Anyway)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8F092-0059-1584-2A67-EF3B38CAF41E}"/>
              </a:ext>
            </a:extLst>
          </p:cNvPr>
          <p:cNvSpPr txBox="1"/>
          <p:nvPr/>
        </p:nvSpPr>
        <p:spPr>
          <a:xfrm>
            <a:off x="6095153" y="3531908"/>
            <a:ext cx="2109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(What we Create)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7E57D-9304-95AC-E9ED-6DEADECE4AC1}"/>
              </a:ext>
            </a:extLst>
          </p:cNvPr>
          <p:cNvSpPr txBox="1"/>
          <p:nvPr/>
        </p:nvSpPr>
        <p:spPr>
          <a:xfrm>
            <a:off x="9362236" y="3393408"/>
            <a:ext cx="2109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(What we cannot control)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3D1F35-E537-5C75-BBA0-08E4199462DF}"/>
              </a:ext>
            </a:extLst>
          </p:cNvPr>
          <p:cNvSpPr txBox="1"/>
          <p:nvPr/>
        </p:nvSpPr>
        <p:spPr>
          <a:xfrm>
            <a:off x="795546" y="3531907"/>
            <a:ext cx="1170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Analogy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9854D-F86C-03C0-3755-C3C406953E37}"/>
              </a:ext>
            </a:extLst>
          </p:cNvPr>
          <p:cNvSpPr txBox="1"/>
          <p:nvPr/>
        </p:nvSpPr>
        <p:spPr>
          <a:xfrm>
            <a:off x="3764703" y="4597400"/>
            <a:ext cx="1612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9484"/>
                </a:solidFill>
              </a:rPr>
              <a:t>Base = Natural demand, brand equity, loyalty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B12AAF-C186-E561-330A-47A065184DCB}"/>
              </a:ext>
            </a:extLst>
          </p:cNvPr>
          <p:cNvSpPr txBox="1"/>
          <p:nvPr/>
        </p:nvSpPr>
        <p:spPr>
          <a:xfrm>
            <a:off x="6035675" y="4597400"/>
            <a:ext cx="2305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9484"/>
                </a:solidFill>
              </a:rPr>
              <a:t>Marketing Impact = rep calls, samples, digital, events, emails,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672FC-81C0-85D0-C8AD-2B74AC4999C6}"/>
              </a:ext>
            </a:extLst>
          </p:cNvPr>
          <p:cNvSpPr txBox="1"/>
          <p:nvPr/>
        </p:nvSpPr>
        <p:spPr>
          <a:xfrm>
            <a:off x="9264657" y="4597400"/>
            <a:ext cx="2305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9484"/>
                </a:solidFill>
              </a:rPr>
              <a:t>Market Forces = competition, seasonality, formulary, guidelines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61EEAB-C150-034C-0117-54EE1AA21CBA}"/>
              </a:ext>
            </a:extLst>
          </p:cNvPr>
          <p:cNvSpPr txBox="1"/>
          <p:nvPr/>
        </p:nvSpPr>
        <p:spPr>
          <a:xfrm>
            <a:off x="795545" y="4828232"/>
            <a:ext cx="1170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937CEE-EAD5-58A3-9F70-E30AFD75530B}"/>
              </a:ext>
            </a:extLst>
          </p:cNvPr>
          <p:cNvSpPr txBox="1"/>
          <p:nvPr/>
        </p:nvSpPr>
        <p:spPr>
          <a:xfrm>
            <a:off x="723901" y="5973358"/>
            <a:ext cx="10845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9484"/>
                </a:solidFill>
              </a:rPr>
              <a:t>The model's core purpose is to answer the question: </a:t>
            </a:r>
            <a:r>
              <a:rPr lang="en-US" b="1" dirty="0">
                <a:solidFill>
                  <a:srgbClr val="009484"/>
                </a:solidFill>
              </a:rPr>
              <a:t>"How much did each penny spent on a specific marketing activity contribute to the total sales or prescriptions, and how should we reallocate our budget for better ROI?"</a:t>
            </a:r>
            <a:endParaRPr lang="en-US" dirty="0">
              <a:solidFill>
                <a:srgbClr val="0094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78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8B3C-DD96-491A-D15C-F789643A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Snipped 17">
            <a:extLst>
              <a:ext uri="{FF2B5EF4-FFF2-40B4-BE49-F238E27FC236}">
                <a16:creationId xmlns:a16="http://schemas.microsoft.com/office/drawing/2014/main" id="{954BF097-C20E-8718-94F1-5D3E2A9A4047}"/>
              </a:ext>
            </a:extLst>
          </p:cNvPr>
          <p:cNvSpPr/>
          <p:nvPr/>
        </p:nvSpPr>
        <p:spPr>
          <a:xfrm>
            <a:off x="702015" y="3037114"/>
            <a:ext cx="2371952" cy="2981197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EF271-0228-51DF-A68C-EF32DCA55F23}"/>
              </a:ext>
            </a:extLst>
          </p:cNvPr>
          <p:cNvSpPr txBox="1"/>
          <p:nvPr/>
        </p:nvSpPr>
        <p:spPr>
          <a:xfrm>
            <a:off x="3934664" y="23626"/>
            <a:ext cx="4439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9484"/>
                </a:solidFill>
              </a:rPr>
              <a:t>Why Market Mix Modelling?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C2AAD5-AC1F-FDCE-68F7-A6BFA88B5AAC}"/>
              </a:ext>
            </a:extLst>
          </p:cNvPr>
          <p:cNvSpPr txBox="1"/>
          <p:nvPr/>
        </p:nvSpPr>
        <p:spPr>
          <a:xfrm>
            <a:off x="723900" y="685800"/>
            <a:ext cx="109601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009484"/>
                </a:solidFill>
              </a:rPr>
              <a:t>The need for Marketing Mix Modeling (MMM) stems from a fundamental challenge faced by virtually every business: </a:t>
            </a:r>
          </a:p>
          <a:p>
            <a:pPr algn="ctr"/>
            <a:r>
              <a:rPr lang="en-US" b="1" i="1" dirty="0">
                <a:solidFill>
                  <a:srgbClr val="009484"/>
                </a:solidFill>
              </a:rPr>
              <a:t>How do I know which of my marketing dollars are actually working, and how should I spend the next one?</a:t>
            </a:r>
          </a:p>
          <a:p>
            <a:pPr algn="just"/>
            <a:endParaRPr lang="en-US" sz="1600" dirty="0">
              <a:solidFill>
                <a:srgbClr val="009484"/>
              </a:solidFill>
            </a:endParaRPr>
          </a:p>
          <a:p>
            <a:pPr algn="just"/>
            <a:r>
              <a:rPr lang="en-US" sz="1600" dirty="0">
                <a:solidFill>
                  <a:srgbClr val="009484"/>
                </a:solidFill>
              </a:rPr>
              <a:t>MMM is essential because it is the most reliable method for providing a holistic, unbiased, and data-driven answer to that question, especially in a world with complex customer journeys and increasing data privacy restrictions.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28909D-B64B-65B0-393B-5B70ABE7A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054" y="2651125"/>
            <a:ext cx="777875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F51C41-95BE-20D9-8CB8-DD232AD75EBD}"/>
              </a:ext>
            </a:extLst>
          </p:cNvPr>
          <p:cNvSpPr txBox="1"/>
          <p:nvPr/>
        </p:nvSpPr>
        <p:spPr>
          <a:xfrm>
            <a:off x="702015" y="3424555"/>
            <a:ext cx="2371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E6CA4"/>
                </a:solidFill>
              </a:rPr>
              <a:t>Optimal Budget Allocation &amp; Planning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198289-BBD4-447A-ECF1-0F5226467FF0}"/>
              </a:ext>
            </a:extLst>
          </p:cNvPr>
          <p:cNvSpPr txBox="1"/>
          <p:nvPr/>
        </p:nvSpPr>
        <p:spPr>
          <a:xfrm>
            <a:off x="821191" y="4202430"/>
            <a:ext cx="2133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accent2"/>
                </a:solidFill>
              </a:rPr>
              <a:t>It tells you when you're </a:t>
            </a:r>
            <a:r>
              <a:rPr lang="en-US" sz="1400" b="1" dirty="0">
                <a:solidFill>
                  <a:schemeClr val="accent2"/>
                </a:solidFill>
              </a:rPr>
              <a:t>spending too much</a:t>
            </a:r>
            <a:r>
              <a:rPr lang="en-US" sz="1400" dirty="0">
                <a:solidFill>
                  <a:schemeClr val="accent2"/>
                </a:solidFill>
              </a:rPr>
              <a:t> on one thing (like visiting a doctor too often) and helps you move that money to a different place where it will create more sales.</a:t>
            </a:r>
          </a:p>
        </p:txBody>
      </p:sp>
      <p:sp>
        <p:nvSpPr>
          <p:cNvPr id="19" name="Rectangle: Top Corners Snipped 18">
            <a:extLst>
              <a:ext uri="{FF2B5EF4-FFF2-40B4-BE49-F238E27FC236}">
                <a16:creationId xmlns:a16="http://schemas.microsoft.com/office/drawing/2014/main" id="{4FA4FDF6-8421-942C-A134-D36E973EF34F}"/>
              </a:ext>
            </a:extLst>
          </p:cNvPr>
          <p:cNvSpPr/>
          <p:nvPr/>
        </p:nvSpPr>
        <p:spPr>
          <a:xfrm>
            <a:off x="3513750" y="3037113"/>
            <a:ext cx="2371952" cy="2981197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11E487-C0FF-2FEF-BC5F-3907EBF3624C}"/>
              </a:ext>
            </a:extLst>
          </p:cNvPr>
          <p:cNvSpPr txBox="1"/>
          <p:nvPr/>
        </p:nvSpPr>
        <p:spPr>
          <a:xfrm>
            <a:off x="3437547" y="3424554"/>
            <a:ext cx="2498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E6CA4"/>
                </a:solidFill>
              </a:rPr>
              <a:t>Quantifying True Return on Investment (ROI)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A6D9DD-8CBB-D1DE-5DF2-720251ECD92C}"/>
              </a:ext>
            </a:extLst>
          </p:cNvPr>
          <p:cNvSpPr txBox="1"/>
          <p:nvPr/>
        </p:nvSpPr>
        <p:spPr>
          <a:xfrm>
            <a:off x="3632926" y="4202429"/>
            <a:ext cx="2133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accent2"/>
                </a:solidFill>
              </a:rPr>
              <a:t>MMM helps you know exactly how many new prescriptions each marketing activity (like a doctor visit or a medical ad) is actually responsible for, so you know what truly pays off.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4970AB9-8969-708C-64DF-024517842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560" y="2646678"/>
            <a:ext cx="777875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Top Corners Snipped 22">
            <a:extLst>
              <a:ext uri="{FF2B5EF4-FFF2-40B4-BE49-F238E27FC236}">
                <a16:creationId xmlns:a16="http://schemas.microsoft.com/office/drawing/2014/main" id="{078E7DAD-F56B-962E-D216-82EF269BDE5D}"/>
              </a:ext>
            </a:extLst>
          </p:cNvPr>
          <p:cNvSpPr/>
          <p:nvPr/>
        </p:nvSpPr>
        <p:spPr>
          <a:xfrm>
            <a:off x="6318955" y="3037112"/>
            <a:ext cx="2371952" cy="2981197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D2A29B-12DB-8234-E05A-83F1B7D8974B}"/>
              </a:ext>
            </a:extLst>
          </p:cNvPr>
          <p:cNvSpPr txBox="1"/>
          <p:nvPr/>
        </p:nvSpPr>
        <p:spPr>
          <a:xfrm>
            <a:off x="6242752" y="3424553"/>
            <a:ext cx="2498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E6CA4"/>
                </a:solidFill>
              </a:rPr>
              <a:t>Holistic and Cross-Channel Measurement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90EB6B-5359-5BDB-1DD2-7F28B5145B9F}"/>
              </a:ext>
            </a:extLst>
          </p:cNvPr>
          <p:cNvSpPr txBox="1"/>
          <p:nvPr/>
        </p:nvSpPr>
        <p:spPr>
          <a:xfrm>
            <a:off x="6438131" y="4202428"/>
            <a:ext cx="2133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accent2"/>
                </a:solidFill>
              </a:rPr>
              <a:t>MMM is needed because it measures all marketing efforts together (sales reps, emails, conferences) to see how they work as a team to influence doctors.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4F21A68C-44A3-3B89-95FC-1728C34FD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846" y="2646676"/>
            <a:ext cx="777876" cy="77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: Top Corners Snipped 26">
            <a:extLst>
              <a:ext uri="{FF2B5EF4-FFF2-40B4-BE49-F238E27FC236}">
                <a16:creationId xmlns:a16="http://schemas.microsoft.com/office/drawing/2014/main" id="{1B383DAC-D0BF-C554-37AA-55C6F51C9695}"/>
              </a:ext>
            </a:extLst>
          </p:cNvPr>
          <p:cNvSpPr/>
          <p:nvPr/>
        </p:nvSpPr>
        <p:spPr>
          <a:xfrm>
            <a:off x="9047957" y="3046008"/>
            <a:ext cx="2680493" cy="2981197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3BCD5D-1302-80D2-1DA3-B037A13FF706}"/>
              </a:ext>
            </a:extLst>
          </p:cNvPr>
          <p:cNvSpPr txBox="1"/>
          <p:nvPr/>
        </p:nvSpPr>
        <p:spPr>
          <a:xfrm>
            <a:off x="8923908" y="3424552"/>
            <a:ext cx="2908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E6CA4"/>
                </a:solidFill>
              </a:rPr>
              <a:t>Privacy-Compliant and Future-Proof Measurement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696B90-590F-9F90-4F25-AC64EC1CBC83}"/>
              </a:ext>
            </a:extLst>
          </p:cNvPr>
          <p:cNvSpPr txBox="1"/>
          <p:nvPr/>
        </p:nvSpPr>
        <p:spPr>
          <a:xfrm>
            <a:off x="9228186" y="4211324"/>
            <a:ext cx="230341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accent2"/>
                </a:solidFill>
              </a:rPr>
              <a:t>Because it only uses group data (total spending, total scripts) and not individual patient details, MMM is a safe way to measure results without breaking privacy rules.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35ED5D9-36C2-1FEF-E537-4ABDEA90A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632" y="2657070"/>
            <a:ext cx="777875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67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482B8-016F-D935-C818-59C27046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DE8AD07-3DE6-8189-0EFE-76E31F0E91B1}"/>
              </a:ext>
            </a:extLst>
          </p:cNvPr>
          <p:cNvSpPr/>
          <p:nvPr/>
        </p:nvSpPr>
        <p:spPr>
          <a:xfrm>
            <a:off x="9170788" y="0"/>
            <a:ext cx="3021212" cy="6858000"/>
          </a:xfrm>
          <a:prstGeom prst="rect">
            <a:avLst/>
          </a:prstGeom>
          <a:solidFill>
            <a:srgbClr val="FBE5D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FE96A-C6C4-FE7D-67FD-176DA5442B7E}"/>
              </a:ext>
            </a:extLst>
          </p:cNvPr>
          <p:cNvSpPr txBox="1"/>
          <p:nvPr/>
        </p:nvSpPr>
        <p:spPr>
          <a:xfrm>
            <a:off x="3325064" y="23626"/>
            <a:ext cx="5381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9484"/>
                </a:solidFill>
              </a:rPr>
              <a:t>How Sales is Measured in Pharma?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C48B5-E3F2-7527-3B4A-8E59A3B246E4}"/>
              </a:ext>
            </a:extLst>
          </p:cNvPr>
          <p:cNvSpPr txBox="1"/>
          <p:nvPr/>
        </p:nvSpPr>
        <p:spPr>
          <a:xfrm>
            <a:off x="3336475" y="642257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009484"/>
                </a:solidFill>
              </a:rPr>
              <a:t>“Sales in Pharma = Prescriptions → Units → Revenue “</a:t>
            </a:r>
            <a:endParaRPr lang="en-US" sz="2000" b="1" i="1" dirty="0">
              <a:solidFill>
                <a:srgbClr val="009484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7DECAC-ABF7-A1CD-89CE-C417417F8FB3}"/>
              </a:ext>
            </a:extLst>
          </p:cNvPr>
          <p:cNvGrpSpPr/>
          <p:nvPr/>
        </p:nvGrpSpPr>
        <p:grpSpPr>
          <a:xfrm>
            <a:off x="155740" y="1616787"/>
            <a:ext cx="3191096" cy="4097749"/>
            <a:chOff x="1364457" y="2346594"/>
            <a:chExt cx="3191096" cy="409774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ECE54B0-FBC3-ECEB-95C7-593327F8F75D}"/>
                </a:ext>
              </a:extLst>
            </p:cNvPr>
            <p:cNvSpPr/>
            <p:nvPr/>
          </p:nvSpPr>
          <p:spPr>
            <a:xfrm>
              <a:off x="1364457" y="2373087"/>
              <a:ext cx="3012810" cy="4071256"/>
            </a:xfrm>
            <a:prstGeom prst="roundRect">
              <a:avLst>
                <a:gd name="adj" fmla="val 11595"/>
              </a:avLst>
            </a:prstGeom>
            <a:solidFill>
              <a:srgbClr val="009484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EF930C0B-B9ED-C881-4D42-3162914092F8}"/>
                </a:ext>
              </a:extLst>
            </p:cNvPr>
            <p:cNvSpPr/>
            <p:nvPr/>
          </p:nvSpPr>
          <p:spPr>
            <a:xfrm rot="21371587">
              <a:off x="3653250" y="2349087"/>
              <a:ext cx="703026" cy="763504"/>
            </a:xfrm>
            <a:prstGeom prst="triangle">
              <a:avLst>
                <a:gd name="adj" fmla="val 27949"/>
              </a:avLst>
            </a:prstGeom>
            <a:solidFill>
              <a:srgbClr val="009484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90F79C-A98E-33CA-DA17-BCB9FB73BD97}"/>
                </a:ext>
              </a:extLst>
            </p:cNvPr>
            <p:cNvSpPr txBox="1"/>
            <p:nvPr/>
          </p:nvSpPr>
          <p:spPr>
            <a:xfrm>
              <a:off x="1386229" y="2373087"/>
              <a:ext cx="26125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</a:rPr>
                <a:t>Prescription-Based Sales </a:t>
              </a:r>
              <a:r>
                <a:rPr lang="en-US" sz="2000" b="1" i="1" dirty="0">
                  <a:solidFill>
                    <a:schemeClr val="accent5">
                      <a:lumMod val="50000"/>
                    </a:schemeClr>
                  </a:solidFill>
                </a:rPr>
                <a:t>(Demand)</a:t>
              </a:r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1D80862-150A-183A-D621-5ED3B30ECC1E}"/>
                </a:ext>
              </a:extLst>
            </p:cNvPr>
            <p:cNvSpPr/>
            <p:nvPr/>
          </p:nvSpPr>
          <p:spPr>
            <a:xfrm rot="10597805">
              <a:off x="3852527" y="2346594"/>
              <a:ext cx="703026" cy="763504"/>
            </a:xfrm>
            <a:prstGeom prst="triangle">
              <a:avLst>
                <a:gd name="adj" fmla="val 27949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77DAB4-3824-377E-C40B-DA7D603CD0D0}"/>
                </a:ext>
              </a:extLst>
            </p:cNvPr>
            <p:cNvSpPr txBox="1"/>
            <p:nvPr/>
          </p:nvSpPr>
          <p:spPr>
            <a:xfrm>
              <a:off x="1364457" y="3138497"/>
              <a:ext cx="3012810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---------------------Metrics---------------------</a:t>
              </a:r>
            </a:p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NRx: </a:t>
              </a:r>
              <a:r>
                <a:rPr lang="en-US" sz="1400" dirty="0">
                  <a:solidFill>
                    <a:schemeClr val="accent5">
                      <a:lumMod val="50000"/>
                    </a:schemeClr>
                  </a:solidFill>
                </a:rPr>
                <a:t>New Prescriptions</a:t>
              </a:r>
            </a:p>
            <a:p>
              <a:endParaRPr lang="en-US" sz="10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1400" b="1" dirty="0" err="1">
                  <a:solidFill>
                    <a:schemeClr val="accent5">
                      <a:lumMod val="50000"/>
                    </a:schemeClr>
                  </a:solidFill>
                </a:rPr>
                <a:t>NBRx</a:t>
              </a: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: </a:t>
              </a:r>
              <a:r>
                <a:rPr lang="en-US" sz="1400" dirty="0">
                  <a:solidFill>
                    <a:schemeClr val="accent5">
                      <a:lumMod val="50000"/>
                    </a:schemeClr>
                  </a:solidFill>
                </a:rPr>
                <a:t>New-to-Brand Prescriptions</a:t>
              </a:r>
            </a:p>
            <a:p>
              <a:endParaRPr lang="en-US" sz="10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1400" b="1" dirty="0" err="1">
                  <a:solidFill>
                    <a:schemeClr val="accent5">
                      <a:lumMod val="50000"/>
                    </a:schemeClr>
                  </a:solidFill>
                </a:rPr>
                <a:t>TRx</a:t>
              </a: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: </a:t>
              </a:r>
              <a:r>
                <a:rPr lang="en-US" sz="1400" dirty="0">
                  <a:solidFill>
                    <a:schemeClr val="accent5">
                      <a:lumMod val="50000"/>
                    </a:schemeClr>
                  </a:solidFill>
                </a:rPr>
                <a:t>Total Prescriptions (New + Refills)</a:t>
              </a:r>
            </a:p>
            <a:p>
              <a:endParaRPr lang="en-US" sz="14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--------------------Purpose---------------------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Measures Patient Demand</a:t>
              </a:r>
            </a:p>
            <a:p>
              <a:endParaRPr lang="en-US" sz="1000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Brand Adoption</a:t>
              </a:r>
            </a:p>
            <a:p>
              <a:endParaRPr lang="en-US" sz="1000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Marketing Effectiveness</a:t>
              </a:r>
              <a:endParaRPr 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B7A7173-40AE-CECB-EE84-2AC6740A376E}"/>
              </a:ext>
            </a:extLst>
          </p:cNvPr>
          <p:cNvGrpSpPr/>
          <p:nvPr/>
        </p:nvGrpSpPr>
        <p:grpSpPr>
          <a:xfrm>
            <a:off x="3390653" y="1665053"/>
            <a:ext cx="3048808" cy="4049484"/>
            <a:chOff x="4903764" y="1850111"/>
            <a:chExt cx="3048808" cy="4049484"/>
          </a:xfrm>
        </p:grpSpPr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6A53FD3C-2C91-00F3-318B-F038C7016C75}"/>
                </a:ext>
              </a:extLst>
            </p:cNvPr>
            <p:cNvSpPr/>
            <p:nvPr/>
          </p:nvSpPr>
          <p:spPr>
            <a:xfrm>
              <a:off x="5005136" y="2400786"/>
              <a:ext cx="2800951" cy="522493"/>
            </a:xfrm>
            <a:prstGeom prst="trapezoid">
              <a:avLst>
                <a:gd name="adj" fmla="val 72918"/>
              </a:avLst>
            </a:prstGeom>
            <a:solidFill>
              <a:srgbClr val="009484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2183DA8-963F-63BC-C0DD-4A142402AE96}"/>
                </a:ext>
              </a:extLst>
            </p:cNvPr>
            <p:cNvSpPr/>
            <p:nvPr/>
          </p:nvSpPr>
          <p:spPr>
            <a:xfrm>
              <a:off x="4903764" y="2880361"/>
              <a:ext cx="3012810" cy="3019234"/>
            </a:xfrm>
            <a:prstGeom prst="roundRect">
              <a:avLst>
                <a:gd name="adj" fmla="val 8522"/>
              </a:avLst>
            </a:prstGeom>
            <a:solidFill>
              <a:srgbClr val="009484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DA6F150-91E3-E0F5-4AC5-520ECFBB0E98}"/>
                </a:ext>
              </a:extLst>
            </p:cNvPr>
            <p:cNvSpPr/>
            <p:nvPr/>
          </p:nvSpPr>
          <p:spPr>
            <a:xfrm>
              <a:off x="5379720" y="1850111"/>
              <a:ext cx="2052319" cy="522493"/>
            </a:xfrm>
            <a:prstGeom prst="roundRect">
              <a:avLst>
                <a:gd name="adj" fmla="val 6354"/>
              </a:avLst>
            </a:prstGeom>
            <a:solidFill>
              <a:srgbClr val="009484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AAA8F9-ABBA-ECA9-E7D8-08845F505758}"/>
                </a:ext>
              </a:extLst>
            </p:cNvPr>
            <p:cNvSpPr txBox="1"/>
            <p:nvPr/>
          </p:nvSpPr>
          <p:spPr>
            <a:xfrm>
              <a:off x="5783816" y="1899582"/>
              <a:ext cx="126214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</a:rPr>
                <a:t>Unit Sales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2EF6FE-7BFB-3F09-3A46-FF57CB2B1BC2}"/>
                </a:ext>
              </a:extLst>
            </p:cNvPr>
            <p:cNvSpPr txBox="1"/>
            <p:nvPr/>
          </p:nvSpPr>
          <p:spPr>
            <a:xfrm>
              <a:off x="5838802" y="2452069"/>
              <a:ext cx="13101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i="1" dirty="0">
                  <a:solidFill>
                    <a:schemeClr val="accent5">
                      <a:lumMod val="50000"/>
                    </a:schemeClr>
                  </a:solidFill>
                </a:rPr>
                <a:t>(Volume)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BB2A3F-7263-1D62-5BDB-1F62B82BD325}"/>
                </a:ext>
              </a:extLst>
            </p:cNvPr>
            <p:cNvSpPr txBox="1"/>
            <p:nvPr/>
          </p:nvSpPr>
          <p:spPr>
            <a:xfrm>
              <a:off x="4939762" y="2958259"/>
              <a:ext cx="301281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---------------------Metrics---------------------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Medicines/Drugs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Vials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Packs Sold</a:t>
              </a:r>
            </a:p>
            <a:p>
              <a:endParaRPr lang="en-US" sz="14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--------------------Purpose---------------------</a:t>
              </a:r>
            </a:p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Tracks physical product movement from manufacturer → wholesaler → pharmacy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0074533-90F9-A42C-574C-6160D1CCC44F}"/>
              </a:ext>
            </a:extLst>
          </p:cNvPr>
          <p:cNvGrpSpPr/>
          <p:nvPr/>
        </p:nvGrpSpPr>
        <p:grpSpPr>
          <a:xfrm>
            <a:off x="6417960" y="1547489"/>
            <a:ext cx="2700935" cy="4292874"/>
            <a:chOff x="8747496" y="1732547"/>
            <a:chExt cx="2700935" cy="429287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870E601-88F6-14B3-00B4-6670285402E3}"/>
                </a:ext>
              </a:extLst>
            </p:cNvPr>
            <p:cNvGrpSpPr/>
            <p:nvPr/>
          </p:nvGrpSpPr>
          <p:grpSpPr>
            <a:xfrm>
              <a:off x="8747496" y="1732547"/>
              <a:ext cx="2700935" cy="4292874"/>
              <a:chOff x="8747497" y="2226218"/>
              <a:chExt cx="1790700" cy="270035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8C790E2C-43E4-FB62-FB4E-F9D2330E90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prstClr val="black"/>
                  <a:srgbClr val="009484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  <a14:imgEffect>
                          <a14:brightnessContrast bright="100000" contrast="-5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1697"/>
              <a:stretch>
                <a:fillRect/>
              </a:stretch>
            </p:blipFill>
            <p:spPr bwMode="auto">
              <a:xfrm>
                <a:off x="8747497" y="2226218"/>
                <a:ext cx="1790700" cy="7710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2" name="Flowchart: Delay 31">
                <a:extLst>
                  <a:ext uri="{FF2B5EF4-FFF2-40B4-BE49-F238E27FC236}">
                    <a16:creationId xmlns:a16="http://schemas.microsoft.com/office/drawing/2014/main" id="{B847816B-1C9D-7E71-B462-CA34D2CFD450}"/>
                  </a:ext>
                </a:extLst>
              </p:cNvPr>
              <p:cNvSpPr/>
              <p:nvPr/>
            </p:nvSpPr>
            <p:spPr>
              <a:xfrm rot="16200000">
                <a:off x="8741245" y="3129624"/>
                <a:ext cx="1943131" cy="1650772"/>
              </a:xfrm>
              <a:custGeom>
                <a:avLst/>
                <a:gdLst>
                  <a:gd name="connsiteX0" fmla="*/ 0 w 1842341"/>
                  <a:gd name="connsiteY0" fmla="*/ 0 h 1539240"/>
                  <a:gd name="connsiteX1" fmla="*/ 921171 w 1842341"/>
                  <a:gd name="connsiteY1" fmla="*/ 0 h 1539240"/>
                  <a:gd name="connsiteX2" fmla="*/ 1842342 w 1842341"/>
                  <a:gd name="connsiteY2" fmla="*/ 769620 h 1539240"/>
                  <a:gd name="connsiteX3" fmla="*/ 921171 w 1842341"/>
                  <a:gd name="connsiteY3" fmla="*/ 1539240 h 1539240"/>
                  <a:gd name="connsiteX4" fmla="*/ 0 w 1842341"/>
                  <a:gd name="connsiteY4" fmla="*/ 1539240 h 1539240"/>
                  <a:gd name="connsiteX5" fmla="*/ 0 w 1842341"/>
                  <a:gd name="connsiteY5" fmla="*/ 0 h 1539240"/>
                  <a:gd name="connsiteX0" fmla="*/ 0 w 1842343"/>
                  <a:gd name="connsiteY0" fmla="*/ 0 h 1549398"/>
                  <a:gd name="connsiteX1" fmla="*/ 921172 w 1842343"/>
                  <a:gd name="connsiteY1" fmla="*/ 10158 h 1549398"/>
                  <a:gd name="connsiteX2" fmla="*/ 1842343 w 1842343"/>
                  <a:gd name="connsiteY2" fmla="*/ 779778 h 1549398"/>
                  <a:gd name="connsiteX3" fmla="*/ 921172 w 1842343"/>
                  <a:gd name="connsiteY3" fmla="*/ 1549398 h 1549398"/>
                  <a:gd name="connsiteX4" fmla="*/ 1 w 1842343"/>
                  <a:gd name="connsiteY4" fmla="*/ 1549398 h 1549398"/>
                  <a:gd name="connsiteX5" fmla="*/ 0 w 1842343"/>
                  <a:gd name="connsiteY5" fmla="*/ 0 h 1549398"/>
                  <a:gd name="connsiteX0" fmla="*/ 0 w 1842343"/>
                  <a:gd name="connsiteY0" fmla="*/ 0 h 1549398"/>
                  <a:gd name="connsiteX1" fmla="*/ 921172 w 1842343"/>
                  <a:gd name="connsiteY1" fmla="*/ 81281 h 1549398"/>
                  <a:gd name="connsiteX2" fmla="*/ 1842343 w 1842343"/>
                  <a:gd name="connsiteY2" fmla="*/ 779778 h 1549398"/>
                  <a:gd name="connsiteX3" fmla="*/ 921172 w 1842343"/>
                  <a:gd name="connsiteY3" fmla="*/ 1549398 h 1549398"/>
                  <a:gd name="connsiteX4" fmla="*/ 1 w 1842343"/>
                  <a:gd name="connsiteY4" fmla="*/ 1549398 h 1549398"/>
                  <a:gd name="connsiteX5" fmla="*/ 0 w 1842343"/>
                  <a:gd name="connsiteY5" fmla="*/ 0 h 1549398"/>
                  <a:gd name="connsiteX0" fmla="*/ 0 w 1842423"/>
                  <a:gd name="connsiteY0" fmla="*/ 0 h 1549398"/>
                  <a:gd name="connsiteX1" fmla="*/ 921172 w 1842423"/>
                  <a:gd name="connsiteY1" fmla="*/ 81281 h 1549398"/>
                  <a:gd name="connsiteX2" fmla="*/ 1842343 w 1842423"/>
                  <a:gd name="connsiteY2" fmla="*/ 779778 h 1549398"/>
                  <a:gd name="connsiteX3" fmla="*/ 880532 w 1842423"/>
                  <a:gd name="connsiteY3" fmla="*/ 1463041 h 1549398"/>
                  <a:gd name="connsiteX4" fmla="*/ 1 w 1842423"/>
                  <a:gd name="connsiteY4" fmla="*/ 1549398 h 1549398"/>
                  <a:gd name="connsiteX5" fmla="*/ 0 w 1842423"/>
                  <a:gd name="connsiteY5" fmla="*/ 0 h 1549398"/>
                  <a:gd name="connsiteX0" fmla="*/ 0 w 1817029"/>
                  <a:gd name="connsiteY0" fmla="*/ 0 h 1549398"/>
                  <a:gd name="connsiteX1" fmla="*/ 921172 w 1817029"/>
                  <a:gd name="connsiteY1" fmla="*/ 81281 h 1549398"/>
                  <a:gd name="connsiteX2" fmla="*/ 1816943 w 1817029"/>
                  <a:gd name="connsiteY2" fmla="*/ 784861 h 1549398"/>
                  <a:gd name="connsiteX3" fmla="*/ 880532 w 1817029"/>
                  <a:gd name="connsiteY3" fmla="*/ 1463041 h 1549398"/>
                  <a:gd name="connsiteX4" fmla="*/ 1 w 1817029"/>
                  <a:gd name="connsiteY4" fmla="*/ 1549398 h 1549398"/>
                  <a:gd name="connsiteX5" fmla="*/ 0 w 1817029"/>
                  <a:gd name="connsiteY5" fmla="*/ 0 h 1549398"/>
                  <a:gd name="connsiteX0" fmla="*/ 15239 w 1817028"/>
                  <a:gd name="connsiteY0" fmla="*/ 0 h 1503675"/>
                  <a:gd name="connsiteX1" fmla="*/ 921171 w 1817028"/>
                  <a:gd name="connsiteY1" fmla="*/ 35558 h 1503675"/>
                  <a:gd name="connsiteX2" fmla="*/ 1816942 w 1817028"/>
                  <a:gd name="connsiteY2" fmla="*/ 739138 h 1503675"/>
                  <a:gd name="connsiteX3" fmla="*/ 880531 w 1817028"/>
                  <a:gd name="connsiteY3" fmla="*/ 1417318 h 1503675"/>
                  <a:gd name="connsiteX4" fmla="*/ 0 w 1817028"/>
                  <a:gd name="connsiteY4" fmla="*/ 1503675 h 1503675"/>
                  <a:gd name="connsiteX5" fmla="*/ 15239 w 1817028"/>
                  <a:gd name="connsiteY5" fmla="*/ 0 h 1503675"/>
                  <a:gd name="connsiteX0" fmla="*/ 15239 w 1817028"/>
                  <a:gd name="connsiteY0" fmla="*/ 52933 h 1556608"/>
                  <a:gd name="connsiteX1" fmla="*/ 921171 w 1817028"/>
                  <a:gd name="connsiteY1" fmla="*/ 88491 h 1556608"/>
                  <a:gd name="connsiteX2" fmla="*/ 1816942 w 1817028"/>
                  <a:gd name="connsiteY2" fmla="*/ 792071 h 1556608"/>
                  <a:gd name="connsiteX3" fmla="*/ 880531 w 1817028"/>
                  <a:gd name="connsiteY3" fmla="*/ 1470251 h 1556608"/>
                  <a:gd name="connsiteX4" fmla="*/ 0 w 1817028"/>
                  <a:gd name="connsiteY4" fmla="*/ 1556608 h 1556608"/>
                  <a:gd name="connsiteX5" fmla="*/ 15239 w 1817028"/>
                  <a:gd name="connsiteY5" fmla="*/ 52933 h 1556608"/>
                  <a:gd name="connsiteX0" fmla="*/ 83176 w 1884965"/>
                  <a:gd name="connsiteY0" fmla="*/ 52933 h 1556608"/>
                  <a:gd name="connsiteX1" fmla="*/ 989108 w 1884965"/>
                  <a:gd name="connsiteY1" fmla="*/ 88491 h 1556608"/>
                  <a:gd name="connsiteX2" fmla="*/ 1884879 w 1884965"/>
                  <a:gd name="connsiteY2" fmla="*/ 792071 h 1556608"/>
                  <a:gd name="connsiteX3" fmla="*/ 948468 w 1884965"/>
                  <a:gd name="connsiteY3" fmla="*/ 1470251 h 1556608"/>
                  <a:gd name="connsiteX4" fmla="*/ 67937 w 1884965"/>
                  <a:gd name="connsiteY4" fmla="*/ 1556608 h 1556608"/>
                  <a:gd name="connsiteX5" fmla="*/ 83176 w 1884965"/>
                  <a:gd name="connsiteY5" fmla="*/ 52933 h 1556608"/>
                  <a:gd name="connsiteX0" fmla="*/ 83176 w 1884965"/>
                  <a:gd name="connsiteY0" fmla="*/ 52933 h 1597176"/>
                  <a:gd name="connsiteX1" fmla="*/ 989108 w 1884965"/>
                  <a:gd name="connsiteY1" fmla="*/ 88491 h 1597176"/>
                  <a:gd name="connsiteX2" fmla="*/ 1884879 w 1884965"/>
                  <a:gd name="connsiteY2" fmla="*/ 792071 h 1597176"/>
                  <a:gd name="connsiteX3" fmla="*/ 948468 w 1884965"/>
                  <a:gd name="connsiteY3" fmla="*/ 1470251 h 1597176"/>
                  <a:gd name="connsiteX4" fmla="*/ 67937 w 1884965"/>
                  <a:gd name="connsiteY4" fmla="*/ 1556608 h 1597176"/>
                  <a:gd name="connsiteX5" fmla="*/ 83176 w 1884965"/>
                  <a:gd name="connsiteY5" fmla="*/ 52933 h 1597176"/>
                  <a:gd name="connsiteX0" fmla="*/ 137271 w 1939060"/>
                  <a:gd name="connsiteY0" fmla="*/ 52933 h 1597176"/>
                  <a:gd name="connsiteX1" fmla="*/ 1043203 w 1939060"/>
                  <a:gd name="connsiteY1" fmla="*/ 88491 h 1597176"/>
                  <a:gd name="connsiteX2" fmla="*/ 1938974 w 1939060"/>
                  <a:gd name="connsiteY2" fmla="*/ 792071 h 1597176"/>
                  <a:gd name="connsiteX3" fmla="*/ 1002563 w 1939060"/>
                  <a:gd name="connsiteY3" fmla="*/ 1470251 h 1597176"/>
                  <a:gd name="connsiteX4" fmla="*/ 122032 w 1939060"/>
                  <a:gd name="connsiteY4" fmla="*/ 1556608 h 1597176"/>
                  <a:gd name="connsiteX5" fmla="*/ 137271 w 1939060"/>
                  <a:gd name="connsiteY5" fmla="*/ 52933 h 1597176"/>
                  <a:gd name="connsiteX0" fmla="*/ 141214 w 1943003"/>
                  <a:gd name="connsiteY0" fmla="*/ 52933 h 1597176"/>
                  <a:gd name="connsiteX1" fmla="*/ 1047146 w 1943003"/>
                  <a:gd name="connsiteY1" fmla="*/ 88491 h 1597176"/>
                  <a:gd name="connsiteX2" fmla="*/ 1942917 w 1943003"/>
                  <a:gd name="connsiteY2" fmla="*/ 792071 h 1597176"/>
                  <a:gd name="connsiteX3" fmla="*/ 1006506 w 1943003"/>
                  <a:gd name="connsiteY3" fmla="*/ 1470251 h 1597176"/>
                  <a:gd name="connsiteX4" fmla="*/ 125975 w 1943003"/>
                  <a:gd name="connsiteY4" fmla="*/ 1556608 h 1597176"/>
                  <a:gd name="connsiteX5" fmla="*/ 141214 w 1943003"/>
                  <a:gd name="connsiteY5" fmla="*/ 52933 h 1597176"/>
                  <a:gd name="connsiteX0" fmla="*/ 141214 w 1943003"/>
                  <a:gd name="connsiteY0" fmla="*/ 52933 h 1612274"/>
                  <a:gd name="connsiteX1" fmla="*/ 1047146 w 1943003"/>
                  <a:gd name="connsiteY1" fmla="*/ 88491 h 1612274"/>
                  <a:gd name="connsiteX2" fmla="*/ 1942917 w 1943003"/>
                  <a:gd name="connsiteY2" fmla="*/ 792071 h 1612274"/>
                  <a:gd name="connsiteX3" fmla="*/ 1006506 w 1943003"/>
                  <a:gd name="connsiteY3" fmla="*/ 1470251 h 1612274"/>
                  <a:gd name="connsiteX4" fmla="*/ 125975 w 1943003"/>
                  <a:gd name="connsiteY4" fmla="*/ 1556608 h 1612274"/>
                  <a:gd name="connsiteX5" fmla="*/ 141214 w 1943003"/>
                  <a:gd name="connsiteY5" fmla="*/ 52933 h 1612274"/>
                  <a:gd name="connsiteX0" fmla="*/ 141214 w 1942929"/>
                  <a:gd name="connsiteY0" fmla="*/ 52933 h 1624923"/>
                  <a:gd name="connsiteX1" fmla="*/ 1047146 w 1942929"/>
                  <a:gd name="connsiteY1" fmla="*/ 88491 h 1624923"/>
                  <a:gd name="connsiteX2" fmla="*/ 1942917 w 1942929"/>
                  <a:gd name="connsiteY2" fmla="*/ 792071 h 1624923"/>
                  <a:gd name="connsiteX3" fmla="*/ 1031906 w 1942929"/>
                  <a:gd name="connsiteY3" fmla="*/ 1531214 h 1624923"/>
                  <a:gd name="connsiteX4" fmla="*/ 125975 w 1942929"/>
                  <a:gd name="connsiteY4" fmla="*/ 1556608 h 1624923"/>
                  <a:gd name="connsiteX5" fmla="*/ 141214 w 1942929"/>
                  <a:gd name="connsiteY5" fmla="*/ 52933 h 1624923"/>
                  <a:gd name="connsiteX0" fmla="*/ 141214 w 1943063"/>
                  <a:gd name="connsiteY0" fmla="*/ 63710 h 1635700"/>
                  <a:gd name="connsiteX1" fmla="*/ 1082706 w 1943063"/>
                  <a:gd name="connsiteY1" fmla="*/ 53548 h 1635700"/>
                  <a:gd name="connsiteX2" fmla="*/ 1942917 w 1943063"/>
                  <a:gd name="connsiteY2" fmla="*/ 802848 h 1635700"/>
                  <a:gd name="connsiteX3" fmla="*/ 1031906 w 1943063"/>
                  <a:gd name="connsiteY3" fmla="*/ 1541991 h 1635700"/>
                  <a:gd name="connsiteX4" fmla="*/ 125975 w 1943063"/>
                  <a:gd name="connsiteY4" fmla="*/ 1567385 h 1635700"/>
                  <a:gd name="connsiteX5" fmla="*/ 141214 w 1943063"/>
                  <a:gd name="connsiteY5" fmla="*/ 63710 h 1635700"/>
                  <a:gd name="connsiteX0" fmla="*/ 141214 w 1943063"/>
                  <a:gd name="connsiteY0" fmla="*/ 73069 h 1645059"/>
                  <a:gd name="connsiteX1" fmla="*/ 1082706 w 1943063"/>
                  <a:gd name="connsiteY1" fmla="*/ 62907 h 1645059"/>
                  <a:gd name="connsiteX2" fmla="*/ 1942917 w 1943063"/>
                  <a:gd name="connsiteY2" fmla="*/ 812207 h 1645059"/>
                  <a:gd name="connsiteX3" fmla="*/ 1031906 w 1943063"/>
                  <a:gd name="connsiteY3" fmla="*/ 1551350 h 1645059"/>
                  <a:gd name="connsiteX4" fmla="*/ 125975 w 1943063"/>
                  <a:gd name="connsiteY4" fmla="*/ 1576744 h 1645059"/>
                  <a:gd name="connsiteX5" fmla="*/ 141214 w 1943063"/>
                  <a:gd name="connsiteY5" fmla="*/ 73069 h 1645059"/>
                  <a:gd name="connsiteX0" fmla="*/ 141214 w 1943131"/>
                  <a:gd name="connsiteY0" fmla="*/ 78782 h 1650772"/>
                  <a:gd name="connsiteX1" fmla="*/ 1092866 w 1943131"/>
                  <a:gd name="connsiteY1" fmla="*/ 53380 h 1650772"/>
                  <a:gd name="connsiteX2" fmla="*/ 1942917 w 1943131"/>
                  <a:gd name="connsiteY2" fmla="*/ 817920 h 1650772"/>
                  <a:gd name="connsiteX3" fmla="*/ 1031906 w 1943131"/>
                  <a:gd name="connsiteY3" fmla="*/ 1557063 h 1650772"/>
                  <a:gd name="connsiteX4" fmla="*/ 125975 w 1943131"/>
                  <a:gd name="connsiteY4" fmla="*/ 1582457 h 1650772"/>
                  <a:gd name="connsiteX5" fmla="*/ 141214 w 1943131"/>
                  <a:gd name="connsiteY5" fmla="*/ 78782 h 1650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131" h="1650772">
                    <a:moveTo>
                      <a:pt x="141214" y="78782"/>
                    </a:moveTo>
                    <a:cubicBezTo>
                      <a:pt x="605751" y="-58376"/>
                      <a:pt x="775649" y="17823"/>
                      <a:pt x="1092866" y="53380"/>
                    </a:cubicBezTo>
                    <a:cubicBezTo>
                      <a:pt x="1601615" y="53380"/>
                      <a:pt x="1953077" y="567306"/>
                      <a:pt x="1942917" y="817920"/>
                    </a:cubicBezTo>
                    <a:cubicBezTo>
                      <a:pt x="1932757" y="1068534"/>
                      <a:pt x="1540655" y="1557063"/>
                      <a:pt x="1031906" y="1557063"/>
                    </a:cubicBezTo>
                    <a:cubicBezTo>
                      <a:pt x="738396" y="1585849"/>
                      <a:pt x="414405" y="1736557"/>
                      <a:pt x="125975" y="1582457"/>
                    </a:cubicBezTo>
                    <a:cubicBezTo>
                      <a:pt x="-51826" y="847554"/>
                      <a:pt x="-36586" y="610488"/>
                      <a:pt x="141214" y="78782"/>
                    </a:cubicBezTo>
                    <a:close/>
                  </a:path>
                </a:pathLst>
              </a:custGeom>
              <a:solidFill>
                <a:srgbClr val="009484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3FEFB53-92ED-9091-ABB6-E5CB347E7FBD}"/>
                </a:ext>
              </a:extLst>
            </p:cNvPr>
            <p:cNvSpPr txBox="1"/>
            <p:nvPr/>
          </p:nvSpPr>
          <p:spPr>
            <a:xfrm>
              <a:off x="9122229" y="4090375"/>
              <a:ext cx="2209799" cy="1738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-------------Metrics-------------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Gross Sales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Net Sales</a:t>
              </a:r>
            </a:p>
            <a:p>
              <a:endParaRPr lang="en-US" sz="14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-------------Purpose-------------</a:t>
              </a:r>
            </a:p>
            <a:p>
              <a:endParaRPr lang="en-US" sz="700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</a:rPr>
                <a:t>Measures actual money earned by the company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72A6A6F-E0D8-8CDB-EF5C-963EE6C56639}"/>
                </a:ext>
              </a:extLst>
            </p:cNvPr>
            <p:cNvSpPr txBox="1"/>
            <p:nvPr/>
          </p:nvSpPr>
          <p:spPr>
            <a:xfrm>
              <a:off x="9196561" y="3261851"/>
              <a:ext cx="201385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</a:rPr>
                <a:t>Financial Sales </a:t>
              </a:r>
              <a:r>
                <a:rPr lang="en-US" sz="2000" b="1" i="1" dirty="0">
                  <a:solidFill>
                    <a:schemeClr val="accent5">
                      <a:lumMod val="50000"/>
                    </a:schemeClr>
                  </a:solidFill>
                </a:rPr>
                <a:t>(Revenue)</a:t>
              </a:r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81C35EB3-EE06-9739-44AB-1063804A8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209" y="740158"/>
            <a:ext cx="687707" cy="68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8B9F1A-8C79-8F6D-C5F8-BF3FC2A7C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073" y="2390746"/>
            <a:ext cx="639098" cy="63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34D91F1-C16C-86F9-7098-ADAD9B255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353" y="2390746"/>
            <a:ext cx="639098" cy="63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EFF3FC-12A4-A378-0275-17598F30C152}"/>
              </a:ext>
            </a:extLst>
          </p:cNvPr>
          <p:cNvSpPr txBox="1"/>
          <p:nvPr/>
        </p:nvSpPr>
        <p:spPr>
          <a:xfrm>
            <a:off x="9305439" y="2976401"/>
            <a:ext cx="6877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New Patient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7AE17-58FF-035B-11E5-1491D11D6906}"/>
              </a:ext>
            </a:extLst>
          </p:cNvPr>
          <p:cNvSpPr txBox="1"/>
          <p:nvPr/>
        </p:nvSpPr>
        <p:spPr>
          <a:xfrm>
            <a:off x="11216743" y="2976401"/>
            <a:ext cx="6877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Old Patient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C984A5-EC9B-31DC-877B-05B2B0FDB8B3}"/>
              </a:ext>
            </a:extLst>
          </p:cNvPr>
          <p:cNvSpPr txBox="1"/>
          <p:nvPr/>
        </p:nvSpPr>
        <p:spPr>
          <a:xfrm>
            <a:off x="10295980" y="1379909"/>
            <a:ext cx="68770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Doctor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A65807-8B84-0D39-C175-2166BF30C310}"/>
              </a:ext>
            </a:extLst>
          </p:cNvPr>
          <p:cNvCxnSpPr/>
          <p:nvPr/>
        </p:nvCxnSpPr>
        <p:spPr>
          <a:xfrm flipV="1">
            <a:off x="9760622" y="1672297"/>
            <a:ext cx="395749" cy="45720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2CF751-EB7F-1C3F-3158-3B893CCDF47B}"/>
              </a:ext>
            </a:extLst>
          </p:cNvPr>
          <p:cNvCxnSpPr>
            <a:cxnSpLocks/>
          </p:cNvCxnSpPr>
          <p:nvPr/>
        </p:nvCxnSpPr>
        <p:spPr>
          <a:xfrm flipH="1" flipV="1">
            <a:off x="11062097" y="1672297"/>
            <a:ext cx="371078" cy="52812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58004F1-E956-183B-0E97-F8CC364E79EF}"/>
              </a:ext>
            </a:extLst>
          </p:cNvPr>
          <p:cNvSpPr txBox="1"/>
          <p:nvPr/>
        </p:nvSpPr>
        <p:spPr>
          <a:xfrm>
            <a:off x="9826203" y="1793022"/>
            <a:ext cx="16069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Prescribing same brand medicines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F00AEF-B8AA-70BB-3DA3-23524028498E}"/>
              </a:ext>
            </a:extLst>
          </p:cNvPr>
          <p:cNvSpPr txBox="1"/>
          <p:nvPr/>
        </p:nvSpPr>
        <p:spPr>
          <a:xfrm>
            <a:off x="9170788" y="3896471"/>
            <a:ext cx="110342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3</a:t>
            </a:r>
          </a:p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Prescriptions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7CDE4C-F9E4-A472-F819-B55A6054A90E}"/>
              </a:ext>
            </a:extLst>
          </p:cNvPr>
          <p:cNvSpPr txBox="1"/>
          <p:nvPr/>
        </p:nvSpPr>
        <p:spPr>
          <a:xfrm>
            <a:off x="10966587" y="3920571"/>
            <a:ext cx="118801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Prescriptions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00CC09-BDCD-86BD-CA6D-3DE8A72B0529}"/>
              </a:ext>
            </a:extLst>
          </p:cNvPr>
          <p:cNvCxnSpPr>
            <a:cxnSpLocks/>
          </p:cNvCxnSpPr>
          <p:nvPr/>
        </p:nvCxnSpPr>
        <p:spPr>
          <a:xfrm flipV="1">
            <a:off x="9666627" y="3468844"/>
            <a:ext cx="0" cy="38280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1DC685-CA5F-A311-B8A2-9081C3FB448A}"/>
              </a:ext>
            </a:extLst>
          </p:cNvPr>
          <p:cNvCxnSpPr>
            <a:cxnSpLocks/>
          </p:cNvCxnSpPr>
          <p:nvPr/>
        </p:nvCxnSpPr>
        <p:spPr>
          <a:xfrm flipV="1">
            <a:off x="11569464" y="3440798"/>
            <a:ext cx="0" cy="38280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5A6BDCB-DCFB-3FF6-81E8-A594859AEEC6}"/>
              </a:ext>
            </a:extLst>
          </p:cNvPr>
          <p:cNvSpPr txBox="1"/>
          <p:nvPr/>
        </p:nvSpPr>
        <p:spPr>
          <a:xfrm rot="5400000">
            <a:off x="10393611" y="4404304"/>
            <a:ext cx="492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=&gt;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0B76EC-25E4-A60A-CA9C-024423EE6438}"/>
              </a:ext>
            </a:extLst>
          </p:cNvPr>
          <p:cNvSpPr/>
          <p:nvPr/>
        </p:nvSpPr>
        <p:spPr>
          <a:xfrm>
            <a:off x="9938425" y="5435914"/>
            <a:ext cx="319549" cy="885743"/>
          </a:xfrm>
          <a:prstGeom prst="rect">
            <a:avLst/>
          </a:prstGeom>
          <a:solidFill>
            <a:srgbClr val="0094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76A882-D1FA-E38C-F0E4-F9AC3A5598E2}"/>
              </a:ext>
            </a:extLst>
          </p:cNvPr>
          <p:cNvSpPr/>
          <p:nvPr/>
        </p:nvSpPr>
        <p:spPr>
          <a:xfrm>
            <a:off x="10498087" y="5642061"/>
            <a:ext cx="319549" cy="679596"/>
          </a:xfrm>
          <a:prstGeom prst="rect">
            <a:avLst/>
          </a:prstGeom>
          <a:solidFill>
            <a:srgbClr val="0094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EF9024-0D15-D939-D369-39B02483CB82}"/>
              </a:ext>
            </a:extLst>
          </p:cNvPr>
          <p:cNvSpPr/>
          <p:nvPr/>
        </p:nvSpPr>
        <p:spPr>
          <a:xfrm>
            <a:off x="11094657" y="5054604"/>
            <a:ext cx="319549" cy="1275520"/>
          </a:xfrm>
          <a:prstGeom prst="rect">
            <a:avLst/>
          </a:prstGeom>
          <a:solidFill>
            <a:srgbClr val="0094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014AC0-B735-23BF-D6B9-FDFC4EE35933}"/>
              </a:ext>
            </a:extLst>
          </p:cNvPr>
          <p:cNvSpPr txBox="1"/>
          <p:nvPr/>
        </p:nvSpPr>
        <p:spPr>
          <a:xfrm>
            <a:off x="9844430" y="6467833"/>
            <a:ext cx="53416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NRx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E24F00-271D-DDA0-4A86-E1486D18FCE5}"/>
              </a:ext>
            </a:extLst>
          </p:cNvPr>
          <p:cNvSpPr txBox="1"/>
          <p:nvPr/>
        </p:nvSpPr>
        <p:spPr>
          <a:xfrm>
            <a:off x="10339977" y="6468234"/>
            <a:ext cx="6576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 err="1">
                <a:solidFill>
                  <a:schemeClr val="accent5">
                    <a:lumMod val="50000"/>
                  </a:schemeClr>
                </a:solidFill>
              </a:rPr>
              <a:t>NBRx</a:t>
            </a:r>
            <a:endParaRPr lang="en-US" sz="13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3055D5-30E8-05DB-BBE6-968DD021AC24}"/>
              </a:ext>
            </a:extLst>
          </p:cNvPr>
          <p:cNvSpPr txBox="1"/>
          <p:nvPr/>
        </p:nvSpPr>
        <p:spPr>
          <a:xfrm>
            <a:off x="10925586" y="6468234"/>
            <a:ext cx="6576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 err="1">
                <a:solidFill>
                  <a:schemeClr val="accent5">
                    <a:lumMod val="50000"/>
                  </a:schemeClr>
                </a:solidFill>
              </a:rPr>
              <a:t>TRx</a:t>
            </a:r>
            <a:endParaRPr lang="en-US" sz="13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655CB3-2EBD-8B99-1B60-70D99DB89895}"/>
              </a:ext>
            </a:extLst>
          </p:cNvPr>
          <p:cNvSpPr txBox="1"/>
          <p:nvPr/>
        </p:nvSpPr>
        <p:spPr>
          <a:xfrm>
            <a:off x="9813089" y="5070238"/>
            <a:ext cx="534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325F33-D3EE-FD25-B11F-0CA7F5CB3F8A}"/>
              </a:ext>
            </a:extLst>
          </p:cNvPr>
          <p:cNvSpPr txBox="1"/>
          <p:nvPr/>
        </p:nvSpPr>
        <p:spPr>
          <a:xfrm>
            <a:off x="10378594" y="5318246"/>
            <a:ext cx="534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71BD40-AD5B-35D1-6460-BA745189B65A}"/>
              </a:ext>
            </a:extLst>
          </p:cNvPr>
          <p:cNvSpPr txBox="1"/>
          <p:nvPr/>
        </p:nvSpPr>
        <p:spPr>
          <a:xfrm>
            <a:off x="11005541" y="4727028"/>
            <a:ext cx="4594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B2993D-71B1-4D85-A2BE-9A8A5D82631A}"/>
              </a:ext>
            </a:extLst>
          </p:cNvPr>
          <p:cNvSpPr txBox="1"/>
          <p:nvPr/>
        </p:nvSpPr>
        <p:spPr>
          <a:xfrm>
            <a:off x="9766808" y="131896"/>
            <a:ext cx="1746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Prescription-Based-Sales Snapshot</a:t>
            </a:r>
          </a:p>
        </p:txBody>
      </p:sp>
    </p:spTree>
    <p:extLst>
      <p:ext uri="{BB962C8B-B14F-4D97-AF65-F5344CB8AC3E}">
        <p14:creationId xmlns:p14="http://schemas.microsoft.com/office/powerpoint/2010/main" val="2101380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562</Words>
  <Application>Microsoft Office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Rajdwip Biswas</dc:creator>
  <cp:lastModifiedBy>Rajdwip Biswas</cp:lastModifiedBy>
  <cp:revision>3</cp:revision>
  <dcterms:created xsi:type="dcterms:W3CDTF">2025-12-05T16:49:59Z</dcterms:created>
  <dcterms:modified xsi:type="dcterms:W3CDTF">2025-12-09T04:03:07Z</dcterms:modified>
</cp:coreProperties>
</file>